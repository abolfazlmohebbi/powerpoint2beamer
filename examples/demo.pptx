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94DA01F-6F50-435E-90C1-0ABECB5F524F}">
          <p14:sldIdLst>
            <p14:sldId id="256"/>
            <p14:sldId id="257"/>
            <p14:sldId id="258"/>
          </p14:sldIdLst>
        </p14:section>
        <p14:section name="Analysis" id="{97AFB94C-1AE6-400B-9F24-6E9D55CAD09E}">
          <p14:sldIdLst>
            <p14:sldId id="259"/>
            <p14:sldId id="260"/>
            <p14:sldId id="261"/>
            <p14:sldId id="262"/>
          </p14:sldIdLst>
        </p14:section>
        <p14:section name="Design" id="{CEBD1D84-3E22-4101-9AFD-EA6EF0331B0A}">
          <p14:sldIdLst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ζ = 0.3</c:v>
                </c:pt>
              </c:strCache>
            </c:strRef>
          </c:tx>
          <c:marker>
            <c:symbol val="none"/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</c:numCache>
            </c:numRef>
          </c:xVal>
          <c:yVal>
            <c:numRef>
              <c:f>Sheet1!$B$2:$B$42</c:f>
              <c:numCache>
                <c:formatCode>General</c:formatCode>
                <c:ptCount val="41"/>
                <c:pt idx="0">
                  <c:v>0.0</c:v>
                </c:pt>
                <c:pt idx="1">
                  <c:v>0.03</c:v>
                </c:pt>
                <c:pt idx="2">
                  <c:v>0.111</c:v>
                </c:pt>
                <c:pt idx="3">
                  <c:v>0.233</c:v>
                </c:pt>
                <c:pt idx="4">
                  <c:v>0.381</c:v>
                </c:pt>
                <c:pt idx="5">
                  <c:v>0.545</c:v>
                </c:pt>
                <c:pt idx="6">
                  <c:v>0.713</c:v>
                </c:pt>
                <c:pt idx="7">
                  <c:v>0.873</c:v>
                </c:pt>
                <c:pt idx="8">
                  <c:v>1.019</c:v>
                </c:pt>
                <c:pt idx="9">
                  <c:v>1.143</c:v>
                </c:pt>
                <c:pt idx="10">
                  <c:v>1.241</c:v>
                </c:pt>
                <c:pt idx="11">
                  <c:v>1.312</c:v>
                </c:pt>
                <c:pt idx="12">
                  <c:v>1.355</c:v>
                </c:pt>
                <c:pt idx="13">
                  <c:v>1.372</c:v>
                </c:pt>
                <c:pt idx="14">
                  <c:v>1.365</c:v>
                </c:pt>
                <c:pt idx="15">
                  <c:v>1.337</c:v>
                </c:pt>
                <c:pt idx="16">
                  <c:v>1.294</c:v>
                </c:pt>
                <c:pt idx="17">
                  <c:v>1.24</c:v>
                </c:pt>
                <c:pt idx="18">
                  <c:v>1.18</c:v>
                </c:pt>
                <c:pt idx="19">
                  <c:v>1.118</c:v>
                </c:pt>
                <c:pt idx="20">
                  <c:v>1.057</c:v>
                </c:pt>
                <c:pt idx="21">
                  <c:v>1.002</c:v>
                </c:pt>
                <c:pt idx="22">
                  <c:v>0.954</c:v>
                </c:pt>
                <c:pt idx="23">
                  <c:v>0.916</c:v>
                </c:pt>
                <c:pt idx="24">
                  <c:v>0.888</c:v>
                </c:pt>
                <c:pt idx="25">
                  <c:v>0.87</c:v>
                </c:pt>
                <c:pt idx="26">
                  <c:v>0.862</c:v>
                </c:pt>
                <c:pt idx="27">
                  <c:v>0.863</c:v>
                </c:pt>
                <c:pt idx="28">
                  <c:v>0.872</c:v>
                </c:pt>
                <c:pt idx="29">
                  <c:v>0.887</c:v>
                </c:pt>
                <c:pt idx="30">
                  <c:v>0.907</c:v>
                </c:pt>
                <c:pt idx="31">
                  <c:v>0.929</c:v>
                </c:pt>
                <c:pt idx="32">
                  <c:v>0.952</c:v>
                </c:pt>
                <c:pt idx="33">
                  <c:v>0.975</c:v>
                </c:pt>
                <c:pt idx="34">
                  <c:v>0.996</c:v>
                </c:pt>
                <c:pt idx="35">
                  <c:v>1.014</c:v>
                </c:pt>
                <c:pt idx="36">
                  <c:v>1.029</c:v>
                </c:pt>
                <c:pt idx="37">
                  <c:v>1.04</c:v>
                </c:pt>
                <c:pt idx="38">
                  <c:v>1.048</c:v>
                </c:pt>
                <c:pt idx="39">
                  <c:v>1.051</c:v>
                </c:pt>
                <c:pt idx="40">
                  <c:v>1.051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Sheet1!$B$44</c:f>
              <c:strCache>
                <c:ptCount val="1"/>
                <c:pt idx="0">
                  <c:v>ζ = 0.7</c:v>
                </c:pt>
              </c:strCache>
            </c:strRef>
          </c:tx>
          <c:marker>
            <c:symbol val="none"/>
          </c:marker>
          <c:xVal>
            <c:numRef>
              <c:f>Sheet1!$A$45:$A$85</c:f>
              <c:numCache>
                <c:formatCode>General</c:formatCode>
                <c:ptCount val="4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</c:numCache>
            </c:numRef>
          </c:xVal>
          <c:yVal>
            <c:numRef>
              <c:f>Sheet1!$B$45:$B$85</c:f>
              <c:numCache>
                <c:formatCode>General</c:formatCode>
                <c:ptCount val="41"/>
                <c:pt idx="0">
                  <c:v>0.0</c:v>
                </c:pt>
                <c:pt idx="1">
                  <c:v>0.028</c:v>
                </c:pt>
                <c:pt idx="2">
                  <c:v>0.098</c:v>
                </c:pt>
                <c:pt idx="3">
                  <c:v>0.195</c:v>
                </c:pt>
                <c:pt idx="4">
                  <c:v>0.306</c:v>
                </c:pt>
                <c:pt idx="5">
                  <c:v>0.42</c:v>
                </c:pt>
                <c:pt idx="6">
                  <c:v>0.531</c:v>
                </c:pt>
                <c:pt idx="7">
                  <c:v>0.634</c:v>
                </c:pt>
                <c:pt idx="8">
                  <c:v>0.726</c:v>
                </c:pt>
                <c:pt idx="9">
                  <c:v>0.805</c:v>
                </c:pt>
                <c:pt idx="10">
                  <c:v>0.871</c:v>
                </c:pt>
                <c:pt idx="11">
                  <c:v>0.924</c:v>
                </c:pt>
                <c:pt idx="12">
                  <c:v>0.965</c:v>
                </c:pt>
                <c:pt idx="13">
                  <c:v>0.996</c:v>
                </c:pt>
                <c:pt idx="14">
                  <c:v>1.018</c:v>
                </c:pt>
                <c:pt idx="15">
                  <c:v>1.033</c:v>
                </c:pt>
                <c:pt idx="16">
                  <c:v>1.042</c:v>
                </c:pt>
                <c:pt idx="17">
                  <c:v>1.045</c:v>
                </c:pt>
                <c:pt idx="18">
                  <c:v>1.046</c:v>
                </c:pt>
                <c:pt idx="19">
                  <c:v>1.044</c:v>
                </c:pt>
                <c:pt idx="20">
                  <c:v>1.04</c:v>
                </c:pt>
                <c:pt idx="21">
                  <c:v>1.035</c:v>
                </c:pt>
                <c:pt idx="22">
                  <c:v>1.03</c:v>
                </c:pt>
                <c:pt idx="23">
                  <c:v>1.025</c:v>
                </c:pt>
                <c:pt idx="24">
                  <c:v>1.02</c:v>
                </c:pt>
                <c:pt idx="25">
                  <c:v>1.015</c:v>
                </c:pt>
                <c:pt idx="26">
                  <c:v>1.011</c:v>
                </c:pt>
                <c:pt idx="27">
                  <c:v>1.008</c:v>
                </c:pt>
                <c:pt idx="28">
                  <c:v>1.005</c:v>
                </c:pt>
                <c:pt idx="29">
                  <c:v>1.003</c:v>
                </c:pt>
                <c:pt idx="30">
                  <c:v>1.001</c:v>
                </c:pt>
                <c:pt idx="31">
                  <c:v>1.0</c:v>
                </c:pt>
                <c:pt idx="32">
                  <c:v>0.999</c:v>
                </c:pt>
                <c:pt idx="33">
                  <c:v>0.998</c:v>
                </c:pt>
                <c:pt idx="34">
                  <c:v>0.998</c:v>
                </c:pt>
                <c:pt idx="35">
                  <c:v>0.998</c:v>
                </c:pt>
                <c:pt idx="36">
                  <c:v>0.998</c:v>
                </c:pt>
                <c:pt idx="37">
                  <c:v>0.998</c:v>
                </c:pt>
                <c:pt idx="38">
                  <c:v>0.998</c:v>
                </c:pt>
                <c:pt idx="39">
                  <c:v>0.998</c:v>
                </c:pt>
                <c:pt idx="40">
                  <c:v>0.999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Sheet1!$B$87</c:f>
              <c:strCache>
                <c:ptCount val="1"/>
                <c:pt idx="0">
                  <c:v>ζ = 1.0</c:v>
                </c:pt>
              </c:strCache>
            </c:strRef>
          </c:tx>
          <c:marker>
            <c:symbol val="none"/>
          </c:marker>
          <c:xVal>
            <c:numRef>
              <c:f>Sheet1!$A$88:$A$128</c:f>
              <c:numCache>
                <c:formatCode>General</c:formatCode>
                <c:ptCount val="4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</c:numCache>
            </c:numRef>
          </c:xVal>
          <c:yVal>
            <c:numRef>
              <c:f>Sheet1!$B$88:$B$128</c:f>
              <c:numCache>
                <c:formatCode>General</c:formatCode>
                <c:ptCount val="41"/>
                <c:pt idx="0">
                  <c:v>0.0</c:v>
                </c:pt>
                <c:pt idx="1">
                  <c:v>0.026</c:v>
                </c:pt>
                <c:pt idx="2">
                  <c:v>0.09</c:v>
                </c:pt>
                <c:pt idx="3">
                  <c:v>0.173</c:v>
                </c:pt>
                <c:pt idx="4">
                  <c:v>0.264</c:v>
                </c:pt>
                <c:pt idx="5">
                  <c:v>0.355</c:v>
                </c:pt>
                <c:pt idx="6">
                  <c:v>0.442</c:v>
                </c:pt>
                <c:pt idx="7">
                  <c:v>0.522</c:v>
                </c:pt>
                <c:pt idx="8">
                  <c:v>0.594</c:v>
                </c:pt>
                <c:pt idx="9">
                  <c:v>0.657</c:v>
                </c:pt>
                <c:pt idx="10">
                  <c:v>0.713</c:v>
                </c:pt>
                <c:pt idx="11">
                  <c:v>0.76</c:v>
                </c:pt>
                <c:pt idx="12">
                  <c:v>0.801</c:v>
                </c:pt>
                <c:pt idx="13">
                  <c:v>0.835</c:v>
                </c:pt>
                <c:pt idx="14">
                  <c:v>0.864</c:v>
                </c:pt>
                <c:pt idx="15">
                  <c:v>0.888</c:v>
                </c:pt>
                <c:pt idx="16">
                  <c:v>0.908</c:v>
                </c:pt>
                <c:pt idx="17">
                  <c:v>0.925</c:v>
                </c:pt>
                <c:pt idx="18">
                  <c:v>0.939</c:v>
                </c:pt>
                <c:pt idx="19">
                  <c:v>0.95</c:v>
                </c:pt>
                <c:pt idx="20">
                  <c:v>0.96</c:v>
                </c:pt>
                <c:pt idx="21">
                  <c:v>0.967</c:v>
                </c:pt>
                <c:pt idx="22">
                  <c:v>0.973</c:v>
                </c:pt>
                <c:pt idx="23">
                  <c:v>0.979</c:v>
                </c:pt>
                <c:pt idx="24">
                  <c:v>0.983</c:v>
                </c:pt>
                <c:pt idx="25">
                  <c:v>0.986</c:v>
                </c:pt>
                <c:pt idx="26">
                  <c:v>0.989</c:v>
                </c:pt>
                <c:pt idx="27">
                  <c:v>0.991</c:v>
                </c:pt>
                <c:pt idx="28">
                  <c:v>0.993</c:v>
                </c:pt>
                <c:pt idx="29">
                  <c:v>0.994</c:v>
                </c:pt>
                <c:pt idx="30">
                  <c:v>0.995</c:v>
                </c:pt>
                <c:pt idx="31">
                  <c:v>0.996</c:v>
                </c:pt>
                <c:pt idx="32">
                  <c:v>0.997</c:v>
                </c:pt>
                <c:pt idx="33">
                  <c:v>0.998</c:v>
                </c:pt>
                <c:pt idx="34">
                  <c:v>0.998</c:v>
                </c:pt>
                <c:pt idx="35">
                  <c:v>0.998</c:v>
                </c:pt>
                <c:pt idx="36">
                  <c:v>0.999</c:v>
                </c:pt>
                <c:pt idx="37">
                  <c:v>0.999</c:v>
                </c:pt>
                <c:pt idx="38">
                  <c:v>0.999</c:v>
                </c:pt>
                <c:pt idx="39">
                  <c:v>0.999</c:v>
                </c:pt>
                <c:pt idx="40">
                  <c:v>1.0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y(t)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Control Systems in a Nutshell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PowerPoint2Beamer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controller compares the </a:t>
            </a:r>
            <a:r>
              <a:rPr b="1"/>
              <a:t>output</a:t>
            </a:r>
            <a:r>
              <a:t> with the </a:t>
            </a:r>
            <a:r>
              <a:rPr i="1"/>
              <a:t>reference</a:t>
            </a:r>
          </a:p>
          <a:p>
            <a:pPr lvl="1"/>
            <a:r>
              <a:t>Proportional, integral and derivative actions</a:t>
            </a:r>
          </a:p>
          <a:p>
            <a:pPr lvl="1"/>
            <a:r>
              <a:t>Tuned from a model or from experiments</a:t>
            </a:r>
          </a:p>
          <a:p>
            <a:pPr/>
            <a:r>
              <a:t>Too much gain makes the loop </a:t>
            </a:r>
            <a:r>
              <a:rPr b="1">
                <a:solidFill>
                  <a:srgbClr val="C00000"/>
                </a:solidFill>
              </a:rPr>
              <a:t>unstable!</a:t>
            </a:r>
          </a:p>
          <a:p>
            <a:r>
              <a:t>A well-tuned loop is </a:t>
            </a:r>
            <a:r>
              <a:rPr>
                <a:solidFill>
                  <a:srgbClr val="00B050"/>
                </a:solidFill>
              </a:rPr>
              <a:t>fast and stable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functions</a:t>
            </a:r>
          </a:p>
        </p:txBody>
      </p:sp>
      <mc:AlternateContent xmlns:mc="http://schemas.openxmlformats.org/markup-compatibility/2006" xmlns:m="http://schemas.openxmlformats.org/officeDocument/2006/math" xmlns:a14="http://schemas.microsoft.com/office/drawing/2010/main">
        <mc:Choice Requires="a14">
          <p:sp>
            <p:nvSpPr>
              <p:cNvPr id="20" name="Equations"/>
              <p:cNvSpPr txBox="1"/>
              <p:nvPr/>
            </p:nvSpPr>
            <p:spPr>
              <a:xfrm>
                <a:off x="457200" y="1371600"/>
                <a:ext cx="8229600" cy="4389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/>
                  <a:t>The Laplace transform turns differential equations into algebra:</a:t>
                </a:r>
              </a:p>
              <a:p>
                <a:pPr algn="ctr"/>
                <a14:m>
                  <m:oMathPara>
                    <m:oMath>
                      <m:r>
                        <a:rPr lang="en-US" sz="2400" i="1">
                          <a:latin typeface="Cambria Math"/>
                        </a:rPr>
                        <m:t>F(s)=</m:t>
                      </m:r>
                      <m:nary>
                        <m:naryPr>
                          <m:chr m:val="∫"/>
                        </m:naryPr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/>
                            </a:rPr>
                            <m:t>f(t)</m:t>
                          </m:r>
                          <m:sSup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−st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dt</m:t>
                          </m:r>
                        </m:e>
                      </m:nary>
                    </m:oMath>
                  </m:oMathPara>
                </a14:m>
              </a:p>
              <a:p>
                <a:r>
                  <a:rPr lang="en-US" sz="2000"/>
                  <a:t>First-order and second-order systems:</a:t>
                </a:r>
              </a:p>
              <a:p>
                <a:pPr algn="ctr"/>
                <a14:m>
                  <m:oMathPara>
                    <m:oMath>
                      <m:r>
                        <a:rPr lang="en-US" sz="2400" i="1">
                          <a:latin typeface="Cambria Math"/>
                        </a:rPr>
                        <m:t>G(s)=</m:t>
                      </m:r>
                      <m:f>
                        <m:num>
                          <m:r>
                            <a:rPr lang="en-US" sz="2400" i="1">
                              <a:latin typeface="Cambria Math"/>
                            </a:rPr>
                            <m:t>K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τs+1</m:t>
                          </m:r>
                        </m:den>
                      </m:f>
                    </m:oMath>
                  </m:oMathPara>
                </a14:m>
              </a:p>
              <a:p>
                <a:pPr algn="ctr"/>
                <a14:m>
                  <m:oMathPara>
                    <m:oMath>
                      <m:r>
                        <a:rPr lang="en-US" sz="2400" i="1">
                          <a:latin typeface="Cambria Math"/>
                        </a:rPr>
                        <m:t>H(s)=</m:t>
                      </m:r>
                      <m:f>
                        <m:num>
                          <m:sSubSup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n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+2ζ</m:t>
                          </m:r>
                          <m:sSub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s+</m:t>
                          </m:r>
                          <m:sSubSup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n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0" name="Equations"/>
              <p:cNvSpPr txBox="1"/>
              <p:nvPr/>
            </p:nvSpPr>
            <p:spPr>
              <a:xfrm>
                <a:off x="457200" y="1371600"/>
                <a:ext cx="8229600" cy="4389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(equations)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4114800"/>
          </a:xfrm>
        </p:spPr>
        <p:txBody>
          <a:bodyPr/>
          <a:lstStyle/>
          <a:p>
            <a:r>
              <a:t>The output after a sudden change of the input</a:t>
            </a:r>
          </a:p>
          <a:p>
            <a:pPr lvl="1"/>
            <a:r>
              <a:t>Rise time</a:t>
            </a:r>
          </a:p>
          <a:p>
            <a:pPr lvl="1"/>
            <a:r>
              <a:t>Overshoot</a:t>
            </a:r>
          </a:p>
          <a:p>
            <a:pPr lvl="1"/>
            <a:r>
              <a:t>Settling time</a:t>
            </a:r>
          </a:p>
          <a:p>
            <a:pPr lvl="1"/>
            <a:r>
              <a:t>Steady-state error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84048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Ziegler–Nichols tuning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 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 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 / 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 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 / 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Closed-loop block diagram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2697480"/>
            <a:ext cx="457200" cy="457200"/>
          </a:xfrm>
          <a:prstGeom prst="ellipse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2514600"/>
            <a:ext cx="1280160" cy="8229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i="1" sz="2000">
                <a:solidFill>
                  <a:srgbClr val="000000"/>
                </a:solidFill>
              </a:rPr>
              <a:t>C(s)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514600"/>
            <a:ext cx="1280160" cy="8229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i="1" sz="2000">
                <a:solidFill>
                  <a:srgbClr val="000000"/>
                </a:solidFill>
              </a:rPr>
              <a:t>G(s)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2000"/>
              <a:t>R(s)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6974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2000"/>
              <a:t>Y(s)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402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0" sz="1600"/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063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0" sz="1600"/>
              <a:t>−</a:t>
            </a:r>
          </a:p>
        </p:txBody>
      </p:sp>
      <p:cxnSp>
        <p:nvCxnSpPr>
          <p:cNvPr id="10" name="Connector 9"/>
          <p:cNvCxnSpPr>
            <a:stCxn id="3" idx="3"/>
            <a:endCxn id="4" idx="1"/>
          </p:cNvCxnSpPr>
          <p:nvPr/>
        </p:nvCxnSpPr>
        <p:spPr>
          <a:xfrm flipV="1">
            <a:off x="2286000" y="2926080"/>
            <a:ext cx="7315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4" idx="3"/>
            <a:endCxn id="5" idx="1"/>
          </p:cNvCxnSpPr>
          <p:nvPr/>
        </p:nvCxnSpPr>
        <p:spPr>
          <a:xfrm flipV="1">
            <a:off x="4297680" y="2926080"/>
            <a:ext cx="7315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3"/>
            <a:endCxn id="3" idx="1"/>
          </p:cNvCxnSpPr>
          <p:nvPr/>
        </p:nvCxnSpPr>
        <p:spPr>
          <a:xfrm flipV="1">
            <a:off x="1371600" y="292608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5" idx="3"/>
            <a:endCxn id="7" idx="1"/>
          </p:cNvCxnSpPr>
          <p:nvPr/>
        </p:nvCxnSpPr>
        <p:spPr>
          <a:xfrm flipV="1">
            <a:off x="6309360" y="2926080"/>
            <a:ext cx="14630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5" idx="3"/>
            <a:endCxn id="3" idx="2"/>
          </p:cNvCxnSpPr>
          <p:nvPr/>
        </p:nvCxnSpPr>
        <p:spPr>
          <a:xfrm flipH="1">
            <a:off x="2057400" y="2926080"/>
            <a:ext cx="4251960" cy="228600"/>
          </a:xfrm>
          <a:prstGeom prst="bentConnector4">
            <a:avLst>
              <a:gd name="adj1" fmla="val -12903"/>
              <a:gd name="adj2" fmla="val 520000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to a step input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a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Model the system</a:t>
            </a:r>
          </a:p>
          <a:p>
            <a:r>
              <a:t>2. Choose the specifications</a:t>
            </a:r>
          </a:p>
          <a:p>
            <a:r>
              <a:t>3. Tune the controller</a:t>
            </a:r>
          </a:p>
          <a:p>
            <a:r>
              <a:t>4. Simulate and verify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Abolfazl Mohebbi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